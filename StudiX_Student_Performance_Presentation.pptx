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Pass/Fail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E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64-4F3B-A1BF-55B756AEA186}"/>
              </c:ext>
            </c:extLst>
          </c:dPt>
          <c:dPt>
            <c:idx val="1"/>
            <c:bubble3D val="0"/>
            <c:spPr>
              <a:solidFill>
                <a:srgbClr val="9A2B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64-4F3B-A1BF-55B756AEA18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64-4F3B-A1BF-55B756AEA18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64-4F3B-A1BF-55B756AEA18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18650</c:v>
                </c:pt>
                <c:pt idx="1">
                  <c:v>1350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64-4F3B-A1BF-55B756AEA1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419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1D6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4A1D6E"/>
                </a:solidFill>
                <a:latin typeface="Arial"/>
              </a:rPr>
              <a:t>Correlation (r) with final_score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Final Score</c:v>
                </c:pt>
              </c:strCache>
            </c:strRef>
          </c:tx>
          <c:spPr>
            <a:solidFill>
              <a:srgbClr val="4A1D6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419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Assignment
Submission Rate</c:v>
                </c:pt>
                <c:pt idx="1">
                  <c:v>Lecture
Attendance Rate</c:v>
                </c:pt>
                <c:pt idx="2">
                  <c:v>Quiz Avg
Score</c:v>
                </c:pt>
                <c:pt idx="3">
                  <c:v>Midterm
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0.309</c:v>
                </c:pt>
                <c:pt idx="1">
                  <c:v>0.311</c:v>
                </c:pt>
                <c:pt idx="2">
                  <c:v>0.378</c:v>
                </c:pt>
                <c:pt idx="3">
                  <c:v>0.63400000000000001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C-43BA-82B9-AE36850A79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19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</c:scaling>
        <c:delete val="0"/>
        <c:axPos val="b"/>
        <c:majorGridlines>
          <c:spPr>
            <a:ln w="12700" cap="flat">
              <a:solidFill>
                <a:srgbClr val="E4D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pass_fail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E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C85-4314-978C-72E4CB58E866}"/>
              </c:ext>
            </c:extLst>
          </c:dPt>
          <c:dPt>
            <c:idx val="1"/>
            <c:bubble3D val="0"/>
            <c:spPr>
              <a:solidFill>
                <a:srgbClr val="9A2B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85-4314-978C-72E4CB58E86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C85-4314-978C-72E4CB58E86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C85-4314-978C-72E4CB58E86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Pass (93.3%)</c:v>
                </c:pt>
                <c:pt idx="1">
                  <c:v>Fail (6.7%)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93.3</c:v>
                </c:pt>
                <c:pt idx="1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C85-4314-978C-72E4CB58E8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419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students</c:v>
                </c:pt>
              </c:strCache>
            </c:strRef>
          </c:tx>
          <c:spPr>
            <a:solidFill>
              <a:srgbClr val="4A1D6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419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</c:v>
                </c:pt>
                <c:pt idx="1">
                  <c:v>15</c:v>
                </c:pt>
                <c:pt idx="2">
                  <c:v>50</c:v>
                </c:pt>
                <c:pt idx="3">
                  <c:v>26.9</c:v>
                </c:pt>
                <c:pt idx="4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F8-4600-9D40-0BBAC03123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19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1D6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4A1D6E"/>
                </a:solidFill>
                <a:latin typeface="Arial"/>
              </a:rPr>
              <a:t>Test-set metrics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4A1D6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419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LightGBM
(tuned)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0.94430000000000003</c:v>
                </c:pt>
                <c:pt idx="1">
                  <c:v>0.93110000000000004</c:v>
                </c:pt>
                <c:pt idx="2">
                  <c:v>0.93840000000000001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A-4E66-96EA-1D2042C7ED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C9AEE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419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LightGBM
(tuned)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0.61250000000000004</c:v>
                </c:pt>
                <c:pt idx="1">
                  <c:v>0.53849999999999998</c:v>
                </c:pt>
                <c:pt idx="2">
                  <c:v>0.59760000000000002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A-4E66-96EA-1D2042C7ED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 (Fail)</c:v>
                </c:pt>
              </c:strCache>
            </c:strRef>
          </c:tx>
          <c:spPr>
            <a:solidFill>
              <a:srgbClr val="E8AA1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4193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
Regression</c:v>
                </c:pt>
                <c:pt idx="1">
                  <c:v>Random
Forest</c:v>
                </c:pt>
                <c:pt idx="2">
                  <c:v>LightGBM
(tuned)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0.88100000000000001</c:v>
                </c:pt>
                <c:pt idx="1">
                  <c:v>9.2999999999999999E-2</c:v>
                </c:pt>
                <c:pt idx="2">
                  <c:v>0.85899999999999999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62A-4E66-96EA-1D2042C7ED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-1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193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4D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4193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433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0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4A1D6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4114800" cy="4114800"/>
          </a:xfrm>
          <a:prstGeom prst="ellipse">
            <a:avLst/>
          </a:prstGeom>
          <a:solidFill>
            <a:srgbClr val="37145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A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8A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ANALYTICS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 Analysis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Early-Warning Prediction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66928" y="39776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20,000 student records into a production-ready model that flags at-risk students in time to act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4800600"/>
            <a:ext cx="1828800" cy="0"/>
          </a:xfrm>
          <a:prstGeom prst="line">
            <a:avLst/>
          </a:prstGeom>
          <a:noFill/>
          <a:ln w="31750">
            <a:solidFill>
              <a:srgbClr val="E8AA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5120640"/>
            <a:ext cx="1696212" cy="457200"/>
          </a:xfrm>
          <a:prstGeom prst="roundRect">
            <a:avLst>
              <a:gd name="adj" fmla="val 50000"/>
            </a:avLst>
          </a:prstGeom>
          <a:solidFill>
            <a:srgbClr val="4A1D6E"/>
          </a:solidFill>
          <a:ln w="9525">
            <a:solidFill>
              <a:srgbClr val="C9AE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5120640"/>
            <a:ext cx="16962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Students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4308" y="5120640"/>
            <a:ext cx="1408176" cy="457200"/>
          </a:xfrm>
          <a:prstGeom prst="roundRect">
            <a:avLst>
              <a:gd name="adj" fmla="val 50000"/>
            </a:avLst>
          </a:prstGeom>
          <a:solidFill>
            <a:srgbClr val="4A1D6E"/>
          </a:solidFill>
          <a:ln w="9525">
            <a:solidFill>
              <a:srgbClr val="C9AE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4308" y="512064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Variables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73652" y="5120640"/>
            <a:ext cx="1504188" cy="457200"/>
          </a:xfrm>
          <a:prstGeom prst="roundRect">
            <a:avLst>
              <a:gd name="adj" fmla="val 50000"/>
            </a:avLst>
          </a:prstGeom>
          <a:solidFill>
            <a:srgbClr val="4A1D6E"/>
          </a:solidFill>
          <a:ln w="9525">
            <a:solidFill>
              <a:srgbClr val="C9AE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73652" y="5120640"/>
            <a:ext cx="15041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 ROC-AUC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79008" y="5120640"/>
            <a:ext cx="3424428" cy="457200"/>
          </a:xfrm>
          <a:prstGeom prst="roundRect">
            <a:avLst>
              <a:gd name="adj" fmla="val 50000"/>
            </a:avLst>
          </a:prstGeom>
          <a:solidFill>
            <a:srgbClr val="4A1D6E"/>
          </a:solidFill>
          <a:ln w="9525">
            <a:solidFill>
              <a:srgbClr val="C9AE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5120640"/>
            <a:ext cx="34244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→ Final Model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• Educational Data Mining • Presented to Judges &amp; Stakeholders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Purple Dashboard to a Deployable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3487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803550"/>
            <a:ext cx="2423160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analyzed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41 variables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193487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02152" y="2803550"/>
            <a:ext cx="2423160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carry real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(of 41 features)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2784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93487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64224" y="2803550"/>
            <a:ext cx="2423160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 of the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34856" y="16916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26296" y="193487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88.1%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26296" y="2803550"/>
            <a:ext cx="2423160" cy="5559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flagged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9167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  <a:effectLst>
            <a:outerShdw blurRad="101600" dist="25400" dir="5400000" algn="bl" rotWithShape="0">
              <a:srgbClr val="3A205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0233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in one paragraph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3891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shows a healthy-looking 93% pass rate — but that hides a 13.9:1 class imbalance and a small population of at-risk students who are easy to miss. We audited the data for leakage, found real signal concentrated in just four post-midterm features, and built a class-weighted Logistic Regression model that out-performed a heavily tuned LightGBM model on every test metric — while remaining the cheapest and most explainable option to put in front of advisors.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Executive Summary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• Student Early-Warning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 Fail Quietly, Until It's Too 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4A1D6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final grade is posted, it's too late to intervene.
Advisors need a reliable, evidence-based signal at the midterm point — not gut instinct.
The dashboard shows only 6.7% of students fail — a tiny, easy-to-overlook group without the right tool.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68112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2514600"/>
            <a:ext cx="128016" cy="128016"/>
          </a:xfrm>
          <a:prstGeom prst="ellipse">
            <a:avLst/>
          </a:prstGeom>
          <a:solidFill>
            <a:srgbClr val="E8AA1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3957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task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66560" y="26700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Post-midterm binary classification — predict Pass vs Fail risk for early-warning / advising.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3685032"/>
            <a:ext cx="128016" cy="128016"/>
          </a:xfrm>
          <a:prstGeom prst="ellipse">
            <a:avLst/>
          </a:prstGeom>
          <a:solidFill>
            <a:srgbClr val="E8AA1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5661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task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66560" y="384048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Final-score regression on the same feature set, for interpretability and cross-checking.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4855464"/>
            <a:ext cx="128016" cy="128016"/>
          </a:xfrm>
          <a:prstGeom prst="ellipse">
            <a:avLst/>
          </a:prstGeom>
          <a:solidFill>
            <a:srgbClr val="E8AA1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7365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66560" y="501091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on the Fail class (catch at-risk students) without sacrificing reliability or fairness.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Problem &amp; Objective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• Student Early-Warning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Dataset, Rigorously Audited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90065"/>
            <a:ext cx="2423160" cy="7086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98725"/>
            <a:ext cx="2423160" cy="4535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6916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2152" y="1890065"/>
            <a:ext cx="2423160" cy="7086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02152" y="2598725"/>
            <a:ext cx="2423160" cy="4535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per student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2784" y="16916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890065"/>
            <a:ext cx="2423160" cy="7086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</a:rPr>
              <a:t>600*41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64224" y="2598725"/>
            <a:ext cx="2423160" cy="4535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34856" y="16916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26296" y="1890065"/>
            <a:ext cx="2423160" cy="7086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26296" y="2598725"/>
            <a:ext cx="2423160" cy="4535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checks passed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A1D6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86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8404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Data-type validation across all 41 features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886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A1D6E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886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38404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duplicate-record scan — none found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A1D6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526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&amp; constant-feature detection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45720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A1D6E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4526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identifier columns (reduces memorization risk)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A1D6E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257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5212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assessment on all numeric fields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72200" y="5257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4A1D6E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5257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5212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validation: age, GPA, attendance, scores, sleep, stress, anxiety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Dataset &amp; Data Quality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• Student Early-Warning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StudiX Dashboard Already Shows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15668"/>
            <a:ext cx="1901952" cy="8001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715768"/>
            <a:ext cx="19019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98064" y="169164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89504" y="1915668"/>
            <a:ext cx="1901952" cy="8001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89504" y="2715768"/>
            <a:ext cx="19019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47488" y="169164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38928" y="1915668"/>
            <a:ext cx="1901952" cy="8001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66.54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38928" y="2715768"/>
            <a:ext cx="19019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96912" y="169164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88352" y="1915668"/>
            <a:ext cx="1901952" cy="8001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88352" y="2715768"/>
            <a:ext cx="19019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46336" y="1691640"/>
            <a:ext cx="2084832" cy="1600200"/>
          </a:xfrm>
          <a:prstGeom prst="roundRect">
            <a:avLst>
              <a:gd name="adj" fmla="val 6857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37776" y="1915668"/>
            <a:ext cx="1901952" cy="8001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74.47%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37776" y="2715768"/>
            <a:ext cx="190195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3949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49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vs. Fail (dashboard)</a:t>
            </a:r>
            <a:endParaRPr lang="en-US" sz="14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85800" y="4023360"/>
          <a:ext cx="274320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6172200" y="3566160"/>
            <a:ext cx="5468112" cy="2423160"/>
          </a:xfrm>
          <a:prstGeom prst="roundRect">
            <a:avLst>
              <a:gd name="adj" fmla="val 3774"/>
            </a:avLst>
          </a:prstGeom>
          <a:solidFill>
            <a:srgbClr val="4A1D6E"/>
          </a:solidFill>
          <a:ln/>
        </p:spPr>
      </p:sp>
      <p:sp>
        <p:nvSpPr>
          <p:cNvPr id="23" name="Text 20"/>
          <p:cNvSpPr/>
          <p:nvPr/>
        </p:nvSpPr>
        <p:spPr>
          <a:xfrm>
            <a:off x="6446520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dashboard critically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46520" y="416052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93% pass rate looks reassuring — but it means the Fail group is only 1,350 students hiding inside 20,000. That imbalance is exactly why we moved from descriptive dashboards to a predictive model: dashboards show what happened; the model flags who's at risk before it happens.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Dashboard KPI Highlights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• Student Early-Warning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Is Concentrated in Just 4 Predictors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4008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91640"/>
            <a:ext cx="4416552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0" y="2331720"/>
            <a:ext cx="39319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of 41 features carry real predictive signal.
Nearly every demographic &amp; psychological variable — stress, sleep, motivation, previous GPA, exam anxiety — showed negligible correlation (|r| &lt; 0.03), confirmed with Welch's t-tests.
Fewer, cleaner drivers mean a simpler model can compete with — or beat — complex ones (see Slide 9).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Key EDA Insight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• Student Early-Warning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0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E8AA1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260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Leakage Was Discovered — and Removed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final_grade and pass_fail are exact deterministic thresholds of final_score. Left in the feature set, the model would have “learned” to read the answer key rather than predict risk.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9A2B4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80720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" y="33832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50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88920" y="269748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4A1D6E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280720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88920" y="33832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10912" y="269748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4A1D6E"/>
          </a:solidFill>
          <a:ln/>
        </p:spPr>
      </p:sp>
      <p:sp>
        <p:nvSpPr>
          <p:cNvPr id="13" name="Text 11"/>
          <p:cNvSpPr/>
          <p:nvPr/>
        </p:nvSpPr>
        <p:spPr>
          <a:xfrm>
            <a:off x="5010912" y="280720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10912" y="33832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32904" y="269748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4A1D6E"/>
          </a:solidFill>
          <a:ln/>
        </p:spPr>
      </p:sp>
      <p:sp>
        <p:nvSpPr>
          <p:cNvPr id="16" name="Text 14"/>
          <p:cNvSpPr/>
          <p:nvPr/>
        </p:nvSpPr>
        <p:spPr>
          <a:xfrm>
            <a:off x="7232904" y="280720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32904" y="33832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54896" y="2697480"/>
            <a:ext cx="2084832" cy="1234440"/>
          </a:xfrm>
          <a:prstGeom prst="roundRect">
            <a:avLst>
              <a:gd name="adj" fmla="val 5926"/>
            </a:avLst>
          </a:prstGeom>
          <a:solidFill>
            <a:srgbClr val="4A1D6E"/>
          </a:solidFill>
          <a:ln/>
        </p:spPr>
      </p:sp>
      <p:sp>
        <p:nvSpPr>
          <p:cNvPr id="19" name="Text 17"/>
          <p:cNvSpPr/>
          <p:nvPr/>
        </p:nvSpPr>
        <p:spPr>
          <a:xfrm>
            <a:off x="9454896" y="2807208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54896" y="338328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371457"/>
          </a:solidFill>
          <a:ln w="12700">
            <a:solidFill>
              <a:srgbClr val="E8AA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taken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75488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final_grade and pass_fail were excluded from FEATURE_COLS and verified with a hard code assertion. midterm_score and quiz_avg_score were deliberately retained — they are legitimate, available data at the post-midterm prediction point, not leakage.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Leakage Audit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• Student Early-Warning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Textbook Class-Imbalance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pass_fail — 13.9 : 1 imbalance</a:t>
            </a:r>
            <a:endParaRPr lang="en-US" sz="14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188720" y="2331720"/>
          <a:ext cx="39319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691640"/>
            <a:ext cx="5468112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920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final_grade distribution</a:t>
            </a:r>
            <a:endParaRPr lang="en-US" sz="14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400800" y="2286000"/>
          <a:ext cx="51206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6446520" y="5029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A-grade students: only 280 of 20,000 (1.4%) — C is the dominant grade at 50%.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640" y="61081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plain accuracy would be misleading here — we evaluate with PR-AUC, Recall, F1 and MCC instead.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Class Imbalance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• Student Early-Warning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One Clear Winner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94944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4005072" cy="4343400"/>
          </a:xfrm>
          <a:prstGeom prst="roundRect">
            <a:avLst>
              <a:gd name="adj" fmla="val 2283"/>
            </a:avLst>
          </a:prstGeom>
          <a:solidFill>
            <a:srgbClr val="4A1D6E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result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09560" y="2377440"/>
            <a:ext cx="3474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class-weighted Logistic Regression outperformed a 75-fit tuned LightGBM search — on every single test metric.
Random Forest is not viable: 0.093 Fail-recall means it misses ~91% of at-risk students despite class weighting.
This matches the EDA: with signal concentrated in ~4 near-linear predictors, a linear model is naturally competitive.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Model Comparison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• Student Early-Warning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Regression: The Production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4A1D6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Class-Weighted Logistic Regression — Promoted to Production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0.944   •   PR-AUC 0.613   •   Recall (Fail) 0.881   •   F1 (Fail) 0.448   •   MCC 0.461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364992"/>
            <a:ext cx="310896" cy="310896"/>
          </a:xfrm>
          <a:prstGeom prst="ellipse">
            <a:avLst/>
          </a:prstGeom>
          <a:solidFill>
            <a:srgbClr val="E8AA1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3364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0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376732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" y="411480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 ROC-AUC, PR-AUC, recall, F1, and MCC — not a trade-off, an outright win.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401568" y="32004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3364992"/>
            <a:ext cx="310896" cy="310896"/>
          </a:xfrm>
          <a:prstGeom prst="ellipse">
            <a:avLst/>
          </a:prstGeom>
          <a:solidFill>
            <a:srgbClr val="E8AA1F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3364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0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76732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interpretable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411480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directly explainable to advisors, students, and auditors.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254496" y="32004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3364992"/>
            <a:ext cx="310896" cy="310896"/>
          </a:xfrm>
          <a:prstGeom prst="ellipse">
            <a:avLst/>
          </a:prstGeom>
          <a:solidFill>
            <a:srgbClr val="E8AA1F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3364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0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9088" y="376732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to run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9088" y="411480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search or GPU needed — simple to retrain and maintain.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107424" y="32004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2016" y="3364992"/>
            <a:ext cx="310896" cy="310896"/>
          </a:xfrm>
          <a:prstGeom prst="ellipse">
            <a:avLst/>
          </a:prstGeom>
          <a:solidFill>
            <a:srgbClr val="E8AA1F"/>
          </a:solidFill>
          <a:ln/>
        </p:spPr>
      </p:sp>
      <p:sp>
        <p:nvSpPr>
          <p:cNvPr id="24" name="Text 22"/>
          <p:cNvSpPr/>
          <p:nvPr/>
        </p:nvSpPr>
        <p:spPr>
          <a:xfrm>
            <a:off x="9272016" y="33649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0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72016" y="3767328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trade-off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72016" y="411480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accuracy vs. interpretability compete; here one model gives both.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48640" y="4892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is retained as a secondary/exploratory model for SHAP-based explainability — not as the deployed scorer.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Final Model Selection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• Student Early-Warning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1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Fairness, Ethics &amp;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check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across gender, part-time-job status, and course type: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027578"/>
            <a:ext cx="1280160" cy="525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53358"/>
            <a:ext cx="1280160" cy="336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23160" y="2880360"/>
            <a:ext cx="1463040" cy="1051560"/>
          </a:xfrm>
          <a:prstGeom prst="roundRect">
            <a:avLst>
              <a:gd name="adj" fmla="val 10435"/>
            </a:avLst>
          </a:prstGeom>
          <a:solidFill>
            <a:srgbClr val="EDE3F7"/>
          </a:solidFill>
          <a:ln w="12700">
            <a:solidFill>
              <a:srgbClr val="C9AEE0"/>
            </a:solidFill>
            <a:prstDash val="solid"/>
          </a:ln>
          <a:effectLst>
            <a:outerShdw blurRad="76200" dist="25400" dir="5400000" algn="bl" rotWithShape="0">
              <a:srgbClr val="3A205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3027578"/>
            <a:ext cx="1280160" cy="5257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14600" y="3553358"/>
            <a:ext cx="1280160" cy="336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Part-time-job students showed the relatively lowest recall (0.833) — worth monitoring post-deployment.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15968" y="169164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DE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1D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guardrails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90288" y="23317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automated judgment — an advisor reviews every flag.
Framing to students must be supportive, never punitive.
No student/course identifiers exist, limiting misuse for individual profiling beyond intended scope.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3296" y="169164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4A1D6E"/>
          </a:solidFill>
          <a:ln/>
        </p:spPr>
      </p:sp>
      <p:sp>
        <p:nvSpPr>
          <p:cNvPr id="18" name="Text 16"/>
          <p:cNvSpPr/>
          <p:nvPr/>
        </p:nvSpPr>
        <p:spPr>
          <a:xfrm>
            <a:off x="8357616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A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plan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57616" y="2331720"/>
            <a:ext cx="30175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Post-midterm scoring job feeds an advising dashboard.
Default threshold 0.5 catches 88.1% of at-risk students.
Lowering the threshold to ~0.15–0.2 pushes recall above 95% — tune based on advising capacity, not a fixed default.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Fairness, Ethics &amp; Deployment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• Student Early-Warning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0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840480"/>
            <a:ext cx="5943600" cy="5943600"/>
          </a:xfrm>
          <a:prstGeom prst="ellipse">
            <a:avLst/>
          </a:prstGeom>
          <a:solidFill>
            <a:srgbClr val="3714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Closing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371457"/>
          </a:solidFill>
          <a:ln w="9525">
            <a:solidFill>
              <a:srgbClr val="C9AE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6596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temporal data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engagement instead of semester aggregates.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01568" y="17830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371457"/>
          </a:solidFill>
          <a:ln w="9525">
            <a:solidFill>
              <a:srgbClr val="C9AE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96596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Student/course IDs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251460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panel-style validation and repeated-measures tracking.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54496" y="17830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371457"/>
          </a:solidFill>
          <a:ln w="9525">
            <a:solidFill>
              <a:srgbClr val="C9AE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96596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Causal-inference design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19088" y="251460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goal shifts from prediction to actual intervention.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07424" y="17830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371457"/>
          </a:solidFill>
          <a:ln w="9525">
            <a:solidFill>
              <a:srgbClr val="C9AE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72016" y="1965960"/>
            <a:ext cx="2322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real data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272016" y="2514600"/>
            <a:ext cx="23225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F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Logistic Regression's edge holds outside synthetic data.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023360"/>
            <a:ext cx="11064240" cy="0"/>
          </a:xfrm>
          <a:prstGeom prst="line">
            <a:avLst/>
          </a:prstGeom>
          <a:noFill/>
          <a:ln w="9525">
            <a:solidFill>
              <a:srgbClr val="C9AEE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48640" y="42976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27732" y="5715000"/>
            <a:ext cx="1627632" cy="438912"/>
          </a:xfrm>
          <a:prstGeom prst="roundRect">
            <a:avLst>
              <a:gd name="adj" fmla="val 50000"/>
            </a:avLst>
          </a:prstGeom>
          <a:solidFill>
            <a:srgbClr val="4A1D6E"/>
          </a:solidFill>
          <a:ln w="9525">
            <a:solidFill>
              <a:srgbClr val="E8A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7732" y="5715000"/>
            <a:ext cx="1627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Students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38244" y="5715000"/>
            <a:ext cx="1810512" cy="438912"/>
          </a:xfrm>
          <a:prstGeom prst="roundRect">
            <a:avLst>
              <a:gd name="adj" fmla="val 50000"/>
            </a:avLst>
          </a:prstGeom>
          <a:solidFill>
            <a:srgbClr val="4A1D6E"/>
          </a:solidFill>
          <a:ln w="9525">
            <a:solidFill>
              <a:srgbClr val="E8A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38244" y="571500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Real Predictors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31636" y="5715000"/>
            <a:ext cx="1444752" cy="438912"/>
          </a:xfrm>
          <a:prstGeom prst="roundRect">
            <a:avLst>
              <a:gd name="adj" fmla="val 50000"/>
            </a:avLst>
          </a:prstGeom>
          <a:solidFill>
            <a:srgbClr val="4A1D6E"/>
          </a:solidFill>
          <a:ln w="9525">
            <a:solidFill>
              <a:srgbClr val="E8A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1636" y="5715000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 ROC-AUC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59268" y="5715000"/>
            <a:ext cx="1719072" cy="438912"/>
          </a:xfrm>
          <a:prstGeom prst="roundRect">
            <a:avLst>
              <a:gd name="adj" fmla="val 50000"/>
            </a:avLst>
          </a:prstGeom>
          <a:solidFill>
            <a:srgbClr val="4A1D6E"/>
          </a:solidFill>
          <a:ln w="9525">
            <a:solidFill>
              <a:srgbClr val="E8A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59268" y="5715000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9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Roadmap &amp; Closing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A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StudiX • Student Early-Warning Analytics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1256</Words>
  <Application>Microsoft Office PowerPoint</Application>
  <PresentationFormat>Widescreen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Ibrahim Amin</cp:lastModifiedBy>
  <cp:revision>2</cp:revision>
  <dcterms:created xsi:type="dcterms:W3CDTF">2026-08-06T10:16:47Z</dcterms:created>
  <dcterms:modified xsi:type="dcterms:W3CDTF">2026-08-06T10:27:18Z</dcterms:modified>
</cp:coreProperties>
</file>